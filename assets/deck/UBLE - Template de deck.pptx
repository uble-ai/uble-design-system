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" id="{249fd110-cc43-c59a-b0fb-8e35f06e4a2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 UBLE</c:v>
                </c:pt>
              </c:strCache>
            </c:strRef>
          </c:tx>
          <c:spPr>
            <a:solidFill>
              <a:srgbClr val="6C99A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FEEEB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</c:v>
                </c:pt>
                <c:pt idx="1">
                  <c:v>1.3</c:v>
                </c:pt>
                <c:pt idx="2">
                  <c:v>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UBLE</c:v>
                </c:pt>
              </c:strCache>
            </c:strRef>
          </c:tx>
          <c:spPr>
            <a:solidFill>
              <a:srgbClr val="FD542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FEEEB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9.4</c:v>
                </c:pt>
                <c:pt idx="1">
                  <c:v>9.9</c:v>
                </c:pt>
                <c:pt idx="2">
                  <c:v>10.5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EFEEEB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D848E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9525" cap="flat">
              <a:solidFill>
                <a:srgbClr val="1F262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D848E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FC4C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Capa: fundo aurora congelada (assets/aurora), wordmark no canto, título em Archivo Black até 3 linhas. Troque o texto; não mexa no fundo.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padrão: eyebrow → título (conclusão) → dek → lede. Um bloco de apoio à direita (card com número). Nunca dois blocos competindo.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APA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9e85dd07-94df-5bbe-9e9b-8b77c2b19a05/scratchpad/deck/wm-can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30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100" spc="30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EYEBROW · CONTEXTO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606040"/>
            <a:ext cx="95097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8000"/>
              </a:lnSpc>
              <a:buNone/>
              <a:defRPr lang="en-US" sz="5400" spc="-20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8000"/>
              </a:lnSpc>
              <a:buNone/>
            </a:pPr>
            <a:r>
              <a:rPr lang="en-US" sz="5400" spc="-200" kern="0" dirty="0">
                <a:solidFill>
                  <a:schemeClr val="bg1"/>
                </a:solidFill>
              </a:rPr>
              <a:t>Título da capa em até três linhas</a:t>
            </a:r>
            <a:endParaRPr lang="en-US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512064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Subtítulo ou nome do cliente</a:t>
            </a: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UBLE · MATERIAL PRIVADO E CONFIDENCIAL</a:t>
            </a:r>
            <a:endParaRPr lang="en-US" sz="9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8899855" y="6172200"/>
            <a:ext cx="2743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spc="20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900" spc="20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OUT/2026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30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30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SEÇÃO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0058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2000"/>
              </a:lnSpc>
              <a:buNone/>
              <a:defRPr lang="en-US" sz="3200" spc="-10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102000"/>
              </a:lnSpc>
              <a:buNone/>
            </a:pPr>
            <a:r>
              <a:rPr lang="en-US" sz="3200" spc="-100" kern="0" dirty="0">
                <a:solidFill>
                  <a:schemeClr val="bg1"/>
                </a:solidFill>
              </a:rPr>
              <a:t>Título do slide, uma conclusão, até 28 caracteres por linha</a:t>
            </a:r>
            <a:endParaRPr lang="en-US" sz="3200" dirty="0"/>
          </a:p>
        </p:txBody>
      </p:sp>
      <p:pic>
        <p:nvPicPr>
          <p:cNvPr id="4" name="Image 0" descr="/tmp/claude-0/-home-claude/9e85dd07-94df-5bbe-9e9b-8b77c2b19a05/scratchpad/deck/wm-can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6199632"/>
            <a:ext cx="1005840" cy="2651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UBLE · NOME DO MATERIAL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265615" y="6199632"/>
            <a:ext cx="11887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EFE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300" kern="0" dirty="0">
                <a:solidFill>
                  <a:srgbClr val="2A3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1000" spc="300" kern="0" dirty="0">
                <a:solidFill>
                  <a:srgbClr val="2A3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SEÇÃO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0058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2000"/>
              </a:lnSpc>
              <a:buNone/>
              <a:defRPr lang="en-US" sz="3200" spc="-100" kern="0" dirty="0">
                <a:solidFill>
                  <a:srgbClr val="10161F"/>
                </a:solidFill>
              </a:defRPr>
            </a:lvl1pPr>
          </a:lstStyle>
          <a:p>
            <a:pPr algn="l" indent="0" marL="0">
              <a:lnSpc>
                <a:spcPct val="102000"/>
              </a:lnSpc>
              <a:buNone/>
            </a:pPr>
            <a:r>
              <a:rPr lang="en-US" sz="3200" spc="-100" kern="0" dirty="0">
                <a:solidFill>
                  <a:srgbClr val="10161F"/>
                </a:solidFill>
              </a:rPr>
              <a:t>Título do slide, uma conclusão, até 28 caracteres por linha</a:t>
            </a:r>
            <a:endParaRPr lang="en-US" sz="3200" dirty="0"/>
          </a:p>
        </p:txBody>
      </p:sp>
      <p:pic>
        <p:nvPicPr>
          <p:cNvPr id="4" name="Image 0" descr="/tmp/claude-0/-home-claude/9e85dd07-94df-5bbe-9e9b-8b77c2b19a05/scratchpad/deck/wm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6199632"/>
            <a:ext cx="1005840" cy="2651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6199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6A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UBLE · NOME DO MATERIAL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265615" y="6199632"/>
            <a:ext cx="11887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A7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rgbClr val="07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96012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8000"/>
              </a:lnSpc>
              <a:buNone/>
              <a:defRPr lang="en-US" sz="4800" spc="-20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8000"/>
              </a:lnSpc>
              <a:buNone/>
            </a:pPr>
            <a:r>
              <a:rPr lang="en-US" sz="4800" spc="-200" kern="0" dirty="0">
                <a:solidFill>
                  <a:schemeClr val="bg1"/>
                </a:solidFill>
              </a:rPr>
              <a:t>Nome da seção</a:t>
            </a:r>
            <a:endParaRPr lang="en-US" sz="4800" dirty="0"/>
          </a:p>
        </p:txBody>
      </p:sp>
      <p:pic>
        <p:nvPicPr>
          <p:cNvPr id="4" name="Image 0" descr="/tmp/claude-0/-home-claude/9e85dd07-94df-5bbe-9e9b-8b77c2b19a05/scratchpad/deck/wm-can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6199632"/>
            <a:ext cx="1005840" cy="26517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265615" y="6199632"/>
            <a:ext cx="11887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APRESENTAÇÃO COMERCIAL · RECUPERAÇÃO DE PAGAMENTOS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606040"/>
            <a:ext cx="9509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400" spc="-200" kern="0" dirty="0">
                <a:solidFill>
                  <a:schemeClr val="bg1"/>
                </a:solidFill>
              </a:rPr>
              <a:t>Pagamento recusado </a:t>
            </a:r>
            <a:pPr algn="l" indent="0" marL="0">
              <a:lnSpc>
                <a:spcPct val="98000"/>
              </a:lnSpc>
              <a:buNone/>
            </a:pPr>
            <a:r>
              <a:rPr lang="en-US" sz="5400" spc="-200" kern="0" dirty="0">
                <a:solidFill>
                  <a:schemeClr val="accent1"/>
                </a:solidFill>
              </a:rPr>
              <a:t>não é falta de interesse.</a:t>
            </a:r>
            <a:endParaRPr lang="en-US" sz="5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5120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Para: nome do cliente</a:t>
            </a:r>
            <a:endParaRPr lang="en-US" sz="1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8899855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OUT/2026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200" kern="0" dirty="0">
                <a:solidFill>
                  <a:schemeClr val="bg1"/>
                </a:solidFill>
              </a:rPr>
              <a:t>O problema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937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Divisor de seção: número em Flamingo, nome em Archivo Black. Use entre blocos de um deck com mais de 12 slides.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O PROBLEMA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spc="-100" kern="0" dirty="0">
                <a:solidFill>
                  <a:schemeClr val="bg1"/>
                </a:solidFill>
              </a:rPr>
              <a:t>É receita perdida depois que o consumidor já decidiu comprar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Falhas concretas. Não intenção.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chemeClr val="accent3"/>
                </a:solidFill>
              </a:rPr>
              <a:t>Falta de saldo, dado incorreto, Pix expirado, boleto vencido, erro de processamento.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chemeClr val="bg1"/>
                </a:solidFill>
              </a:rPr>
              <a:t>Nenhuma delas se resolve dentro do gateway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chemeClr val="accent3"/>
                </a:solidFill>
              </a:rPr>
              <a:t>: só o consumidor pode resolver, e é com ele que ninguém fala.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80960" y="2377440"/>
            <a:ext cx="3959352" cy="2651760"/>
          </a:xfrm>
          <a:prstGeom prst="roundRect">
            <a:avLst>
              <a:gd name="adj" fmla="val 6207"/>
            </a:avLst>
          </a:prstGeom>
          <a:solidFill>
            <a:srgbClr val="151A21"/>
          </a:solidFill>
          <a:ln w="9525">
            <a:solidFill>
              <a:srgbClr val="EFEEEB">
                <a:alpha val="2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2651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R$ 184.320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3337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perdidos em setembro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 em pagamentos recusados, antes da UBLE.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4526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FONTE: DADOS DO CLIENTE, SET/2026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265615" y="6199632"/>
            <a:ext cx="11887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TRAÇÃO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spc="-100" kern="0" dirty="0">
                <a:solidFill>
                  <a:schemeClr val="bg1"/>
                </a:solidFill>
              </a:rPr>
              <a:t>Treze clientes pagantes e um take rate que se sustenta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4754880" cy="2194560"/>
          </a:xfrm>
          <a:prstGeom prst="roundRect">
            <a:avLst>
              <a:gd name="adj" fmla="val 7500"/>
            </a:avLst>
          </a:prstGeom>
          <a:solidFill>
            <a:srgbClr val="151A21"/>
          </a:solidFill>
          <a:ln w="9525">
            <a:solidFill>
              <a:srgbClr val="EFEEEB">
                <a:alpha val="2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7432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R$ 2,4M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recuperados para 13 clientes desde jul/2025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32120" y="2468880"/>
            <a:ext cx="2011680" cy="2194560"/>
          </a:xfrm>
          <a:prstGeom prst="roundRect">
            <a:avLst>
              <a:gd name="adj" fmla="val 8182"/>
            </a:avLst>
          </a:prstGeom>
          <a:solidFill>
            <a:srgbClr val="151A21"/>
          </a:solidFill>
          <a:ln w="9525">
            <a:solidFill>
              <a:srgbClr val="EFEEEB">
                <a:alpha val="2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2743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9,94%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3611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das vendas perdidas, média simples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2468880"/>
            <a:ext cx="2011680" cy="2194560"/>
          </a:xfrm>
          <a:prstGeom prst="roundRect">
            <a:avLst>
              <a:gd name="adj" fmla="val 8182"/>
            </a:avLst>
          </a:prstGeom>
          <a:solidFill>
            <a:srgbClr val="151A21"/>
          </a:solidFill>
          <a:ln w="9525">
            <a:solidFill>
              <a:srgbClr val="EFEEEB">
                <a:alpha val="2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0" y="2743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5,06%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36118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take rate efetivo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12680" y="2468880"/>
            <a:ext cx="1627632" cy="2194560"/>
          </a:xfrm>
          <a:prstGeom prst="roundRect">
            <a:avLst>
              <a:gd name="adj" fmla="val 10112"/>
            </a:avLst>
          </a:prstGeom>
          <a:solidFill>
            <a:srgbClr val="151A21"/>
          </a:solidFill>
          <a:ln w="9525">
            <a:solidFill>
              <a:srgbClr val="EFEEEB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287000" y="2743200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0287000" y="3611880"/>
            <a:ext cx="1078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clientes pagantes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92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FONTE: DADOS PRÓPRIOS UBLE, JAN A SET 2026. UM FLAMINGO POR FILEIRA: O NÚMERO QUE A SEÇÃO AFIRMA.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265615" y="6199632"/>
            <a:ext cx="11887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RESULTADO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spc="-100" kern="0" dirty="0">
                <a:solidFill>
                  <a:schemeClr val="bg1"/>
                </a:solidFill>
              </a:rPr>
              <a:t>R$ 802 mil recuperados no trimestre, a 5,06% de take rate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377440"/>
                <a:gridCol w="2377440"/>
                <a:gridCol w="22219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D848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MÊS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D848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PERDIDO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D848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RECUPERADO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spc="200" kern="0" dirty="0">
                          <a:solidFill>
                            <a:srgbClr val="7D848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TAKE RATE</a:t>
                      </a:r>
                      <a:endParaRPr lang="en-US" sz="9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FC4C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Jul/26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C99A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R$ 1.842.300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FC4C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R$ 184.320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FC4C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5,06%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FC4C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Ago/26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C99A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R$ 1.910.110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FC4C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R$ 191.560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FC4C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5,04%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FC4C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Set/26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C99A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R$ 2.077.940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FC4C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R$ 211.900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FC4C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5,08%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7D848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Out/26 · projetado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6C99A4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R$ 2.150.000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FC4C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R$ 215.000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BFC4C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5,06%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6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90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D542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Recuperado no período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D542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R$ 802.780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090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D542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5,06%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090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20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PERDIDO EM SHARK, RECUPERADO EM TEXTO, TOTAL EM FLAMINGO. FONTE: DADOS DO CLIENTE.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265615" y="6199632"/>
            <a:ext cx="11887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ANTES E DEPOIS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spc="-100" kern="0" dirty="0">
                <a:solidFill>
                  <a:schemeClr val="bg1"/>
                </a:solidFill>
              </a:rPr>
              <a:t>Com a UBLE, a recuperação sobe de 1,2% para 9,9% das vendas perdidas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377440"/>
          <a:ext cx="69494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2377440"/>
            <a:ext cx="3776472" cy="2834640"/>
          </a:xfrm>
          <a:prstGeom prst="roundRect">
            <a:avLst>
              <a:gd name="adj" fmla="val 5806"/>
            </a:avLst>
          </a:prstGeom>
          <a:solidFill>
            <a:srgbClr val="151A21"/>
          </a:solidFill>
          <a:ln w="9525">
            <a:solidFill>
              <a:srgbClr val="EFEEEB">
                <a:alpha val="20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3816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Como ler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301752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C99A4"/>
                </a:solidFill>
              </a:rPr>
              <a:t>Shark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 é a perda e o que não é UBLE.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</a:rPr>
              <a:t>Flamingo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 é o que a UBLE recuperou. Um destaque por gráfico; grade só horizontal; fonte do dado abaixo.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349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FONTE: DADOS PRÓPRIOS UBLE, 13 CLIENTES, JUL A SET 2026. EXEMPLO ILUSTRATIVO.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265615" y="6199632"/>
            <a:ext cx="11887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COMO FUNCIONA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spc="-100" kern="0" dirty="0">
                <a:solidFill>
                  <a:schemeClr val="bg1"/>
                </a:solidFill>
              </a:rPr>
              <a:t>Onde todo mundo para, a UBLE começa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Checkout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7249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O consumidor decide comprar e o pagamento é recusado pelo emissor.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UBLE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6850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Identificamos a recusa, entendemos o motivo e falamos com o consumidor em nome da loja.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Pago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6451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 venda é concluída sem trocar o gateway e sem projeto de integração.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2377440"/>
            <a:ext cx="5056632" cy="3017520"/>
          </a:xfrm>
          <a:prstGeom prst="roundRect">
            <a:avLst>
              <a:gd name="adj" fmla="val 5455"/>
            </a:avLst>
          </a:prstGeom>
          <a:solidFill>
            <a:srgbClr val="151A21"/>
          </a:solidFill>
          <a:ln w="9525">
            <a:solidFill>
              <a:srgbClr val="EFEEEB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32918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Espaço para diagrama, print do produto ou trilha de pagamento (linha fina, monocromática, caminho da UBLE em Flamingo).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265615" y="6199632"/>
            <a:ext cx="11887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2A33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PROPOSTA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spc="-100" kern="0" dirty="0">
                <a:solidFill>
                  <a:srgbClr val="10161F"/>
                </a:solidFill>
              </a:rPr>
              <a:t>Slide claro para proposta, relatório e material impresso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A3340"/>
                </a:solidFill>
              </a:rPr>
              <a:t>Use este layout quando o material for lido, não projetado.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0161F"/>
                </a:solidFill>
              </a:rPr>
              <a:t>Corpo em Archivo 15px, até 70 caracteres por linha.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A3340"/>
                </a:solidFill>
              </a:rPr>
              <a:t>Texto laranja aqui é #B83516 (não o Flamingo puro), para passar no contraste.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B83516"/>
                </a:solidFill>
              </a:rPr>
              <a:t>Saiba mais em uble.ai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80960" y="2377440"/>
            <a:ext cx="3959352" cy="2286000"/>
          </a:xfrm>
          <a:prstGeom prst="roundRect">
            <a:avLst>
              <a:gd name="adj" fmla="val 7200"/>
            </a:avLst>
          </a:prstGeom>
          <a:solidFill>
            <a:srgbClr val="F7F6F3"/>
          </a:solidFill>
          <a:ln w="9525">
            <a:solidFill>
              <a:srgbClr val="10161F">
                <a:alpha val="24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2651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16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R$ 215.000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3337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61F"/>
                </a:solidFill>
              </a:rPr>
              <a:t>projeção de recuperação</a:t>
            </a:r>
            <a:pPr indent="0" marL="0">
              <a:buNone/>
            </a:pPr>
            <a:r>
              <a:rPr lang="en-US" sz="1300" dirty="0">
                <a:solidFill>
                  <a:srgbClr val="2A3340"/>
                </a:solidFill>
              </a:rPr>
              <a:t> no primeiro mês, com base no histórico de set/2026.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6A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2026, PROJETADO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265615" y="6199632"/>
            <a:ext cx="11887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6A73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011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4320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200" kern="0" dirty="0">
                <a:solidFill>
                  <a:schemeClr val="bg1"/>
                </a:solidFill>
              </a:rPr>
              <a:t>Vamos recuperar o que o checkout perdeu?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EFEEEB"/>
          </a:solidFill>
          <a:ln w="12700">
            <a:solidFill>
              <a:srgbClr val="EFEE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5239512"/>
            <a:ext cx="128016" cy="128016"/>
          </a:xfrm>
          <a:prstGeom prst="ellipse">
            <a:avLst/>
          </a:prstGeom>
          <a:solidFill>
            <a:srgbClr val="2BD46B"/>
          </a:solidFill>
          <a:ln w="12700">
            <a:solidFill>
              <a:srgbClr val="2BD4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5029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090C"/>
                </a:solidFill>
              </a:rPr>
              <a:t>Falar com o Diego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5029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diego@uble.ai  ·  +55 21 99577-9588  ·  uble.ai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BLE">
  <a:themeElements>
    <a:clrScheme name="UBLE">
      <a:dk1>
        <a:srgbClr val="07090C"/>
      </a:dk1>
      <a:lt1>
        <a:srgbClr val="EFEEEB"/>
      </a:lt1>
      <a:dk2>
        <a:srgbClr val="151A21"/>
      </a:dk2>
      <a:lt2>
        <a:srgbClr val="F7F6F3"/>
      </a:lt2>
      <a:accent1>
        <a:srgbClr val="FD542D"/>
      </a:accent1>
      <a:accent2>
        <a:srgbClr val="6C99A4"/>
      </a:accent2>
      <a:accent3>
        <a:srgbClr val="BFC4CB"/>
      </a:accent3>
      <a:accent4>
        <a:srgbClr val="7D848E"/>
      </a:accent4>
      <a:accent5>
        <a:srgbClr val="2BD46B"/>
      </a:accent5>
      <a:accent6>
        <a:srgbClr val="B83516"/>
      </a:accent6>
      <a:hlink>
        <a:srgbClr val="FD542D"/>
      </a:hlink>
      <a:folHlink>
        <a:srgbClr val="B83516"/>
      </a:folHlink>
    </a:clrScheme>
    <a:fontScheme name="UBLE">
      <a:majorFont>
        <a:latin typeface="Archivo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chiv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UBLE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UBLE · Template de deck</dc:title>
  <dc:subject>PptxGenJS Presentation</dc:subject>
  <dc:creator>UBLE</dc:creator>
  <cp:lastModifiedBy>UBLE</cp:lastModifiedBy>
  <cp:revision>1</cp:revision>
  <dcterms:created xsi:type="dcterms:W3CDTF">2026-10-15T19:39:31Z</dcterms:created>
  <dcterms:modified xsi:type="dcterms:W3CDTF">2026-10-15T19:39:31Z</dcterms:modified>
</cp:coreProperties>
</file>